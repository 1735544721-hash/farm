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吞吐量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周一</c:v>
                </c:pt>
                <c:pt idx="1">
                  <c:v>周二</c:v>
                </c:pt>
                <c:pt idx="2">
                  <c:v>周三</c:v>
                </c:pt>
                <c:pt idx="3">
                  <c:v>周四</c:v>
                </c:pt>
                <c:pt idx="4">
                  <c:v>周五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120</c:v>
                </c:pt>
                <c:pt idx="1">
                  <c:v>140</c:v>
                </c:pt>
                <c:pt idx="2">
                  <c:v>160</c:v>
                </c:pt>
                <c:pt idx="3">
                  <c:v>155</c:v>
                </c:pt>
                <c:pt idx="4">
                  <c:v>170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成功率(%)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周一</c:v>
                </c:pt>
                <c:pt idx="1">
                  <c:v>周二</c:v>
                </c:pt>
                <c:pt idx="2">
                  <c:v>周三</c:v>
                </c:pt>
                <c:pt idx="3">
                  <c:v>周四</c:v>
                </c:pt>
                <c:pt idx="4">
                  <c:v>周五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98.0</c:v>
                </c:pt>
                <c:pt idx="1">
                  <c:v>98.5</c:v>
                </c:pt>
                <c:pt idx="2">
                  <c:v>99.0</c:v>
                </c:pt>
                <c:pt idx="3">
                  <c:v>98.8</c:v>
                </c:pt>
                <c:pt idx="4">
                  <c:v>99.2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latin typeface="Microsoft YaHei"/>
              </a:rPr>
              <a:t>Java 工程师工作汇报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 b="0">
                <a:latin typeface="Microsoft YaHei"/>
              </a:rPr>
              <a:t>日期：2026-03-04</a:t>
            </a:r>
          </a:p>
          <a:p>
            <a:r>
              <a:rPr sz="2000" b="0">
                <a:latin typeface="Microsoft YaHei"/>
              </a:rPr>
              <a:t>汇报人：XXX</a:t>
            </a:r>
          </a:p>
          <a:p>
            <a:r>
              <a:rPr sz="2000" b="0">
                <a:latin typeface="Microsoft YaHei"/>
              </a:rPr>
              <a:t>部门：XXX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latin typeface="Microsoft YaHei"/>
              </a:rPr>
              <a:t>目录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 b="0">
                <a:latin typeface="Microsoft YaHei"/>
              </a:rPr>
              <a:t>1. 本周进展</a:t>
            </a:r>
          </a:p>
          <a:p>
            <a:pPr/>
            <a:r>
              <a:rPr sz="2200" b="0">
                <a:latin typeface="Microsoft YaHei"/>
              </a:rPr>
              <a:t>2. 技术架构与优化点</a:t>
            </a:r>
          </a:p>
          <a:p>
            <a:pPr/>
            <a:r>
              <a:rPr sz="2200" b="0">
                <a:latin typeface="Microsoft YaHei"/>
              </a:rPr>
              <a:t>3. 关键指标（表）</a:t>
            </a:r>
          </a:p>
          <a:p>
            <a:pPr/>
            <a:r>
              <a:rPr sz="2200" b="0">
                <a:latin typeface="Microsoft YaHei"/>
              </a:rPr>
              <a:t>4. 指标趋势</a:t>
            </a:r>
          </a:p>
          <a:p>
            <a:pPr/>
            <a:r>
              <a:rPr sz="2200" b="0">
                <a:latin typeface="Microsoft YaHei"/>
              </a:rPr>
              <a:t>5. 里程碑与进度</a:t>
            </a:r>
          </a:p>
          <a:p>
            <a:pPr/>
            <a:r>
              <a:rPr sz="2200" b="0">
                <a:latin typeface="Microsoft YaHei"/>
              </a:rPr>
              <a:t>6. 问题与风险</a:t>
            </a:r>
          </a:p>
          <a:p>
            <a:pPr/>
            <a:r>
              <a:rPr sz="2200" b="0">
                <a:latin typeface="Microsoft YaHei"/>
              </a:rPr>
              <a:t>7. 下周计划</a:t>
            </a:r>
          </a:p>
          <a:p>
            <a:pPr/>
            <a:r>
              <a:rPr sz="2200" b="0">
                <a:latin typeface="Microsoft YaHei"/>
              </a:rPr>
              <a:t>8. 需要支持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latin typeface="Microsoft YaHei"/>
              </a:rPr>
              <a:t>本周进展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 b="0">
                <a:latin typeface="Microsoft YaHei"/>
              </a:rPr>
              <a:t>完成：</a:t>
            </a:r>
          </a:p>
          <a:p>
            <a:pPr/>
            <a:r>
              <a:rPr sz="2200" b="0">
                <a:latin typeface="Microsoft YaHei"/>
              </a:rPr>
              <a:t>优化：</a:t>
            </a:r>
          </a:p>
          <a:p>
            <a:pPr/>
            <a:r>
              <a:rPr sz="2200" b="0">
                <a:latin typeface="Microsoft YaHei"/>
              </a:rPr>
              <a:t>上线/交付：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latin typeface="Microsoft YaHei"/>
              </a:rPr>
              <a:t>技术架构与优化点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 b="0">
                <a:latin typeface="Microsoft YaHei"/>
              </a:rPr>
              <a:t>架构图：</a:t>
            </a:r>
          </a:p>
          <a:p>
            <a:pPr/>
            <a:r>
              <a:rPr sz="2200" b="0">
                <a:latin typeface="Microsoft YaHei"/>
              </a:rPr>
              <a:t>关键优化：</a:t>
            </a:r>
          </a:p>
          <a:p>
            <a:pPr/>
            <a:r>
              <a:rPr sz="2200" b="0">
                <a:latin typeface="Microsoft YaHei"/>
              </a:rPr>
              <a:t>性能收益：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latin typeface="Microsoft YaHei"/>
              </a:rPr>
              <a:t>关键指标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46304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822960">
                <a:tc>
                  <a:txBody>
                    <a:bodyPr/>
                    <a:lstStyle/>
                    <a:p>
                      <a:r>
                        <a:rPr sz="1800" b="0">
                          <a:latin typeface="Microsoft YaHei"/>
                        </a:rPr>
                        <a:t>指标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>
                          <a:latin typeface="Microsoft YaHei"/>
                        </a:rPr>
                        <a:t>本周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>
                          <a:latin typeface="Microsoft YaHei"/>
                        </a:rPr>
                        <a:t>上周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>
                          <a:latin typeface="Microsoft YaHei"/>
                        </a:rPr>
                        <a:t>变化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800" b="0">
                          <a:latin typeface="Microsoft YaHei"/>
                        </a:rPr>
                        <a:t>成功率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>
                          <a:latin typeface="Microsoft YaHei"/>
                        </a:rPr>
                        <a:t>99.2%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>
                          <a:latin typeface="Microsoft YaHei"/>
                        </a:rPr>
                        <a:t>98.8%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>
                          <a:latin typeface="Microsoft YaHei"/>
                        </a:rPr>
                        <a:t>+0.4%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800" b="0">
                          <a:latin typeface="Microsoft YaHei"/>
                        </a:rPr>
                        <a:t>P95 延迟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>
                          <a:latin typeface="Microsoft YaHei"/>
                        </a:rPr>
                        <a:t>180ms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>
                          <a:latin typeface="Microsoft YaHei"/>
                        </a:rPr>
                        <a:t>220ms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>
                          <a:latin typeface="Microsoft YaHei"/>
                        </a:rPr>
                        <a:t>-40ms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800" b="0">
                          <a:latin typeface="Microsoft YaHei"/>
                        </a:rPr>
                        <a:t>QPS 峰值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>
                          <a:latin typeface="Microsoft YaHei"/>
                        </a:rPr>
                        <a:t>3.2k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>
                          <a:latin typeface="Microsoft YaHei"/>
                        </a:rPr>
                        <a:t>2.6k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>
                          <a:latin typeface="Microsoft YaHei"/>
                        </a:rPr>
                        <a:t>+23%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800" b="0">
                          <a:latin typeface="Microsoft YaHei"/>
                        </a:rPr>
                        <a:t>错误率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>
                          <a:latin typeface="Microsoft YaHei"/>
                        </a:rPr>
                        <a:t>0.12%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>
                          <a:latin typeface="Microsoft YaHei"/>
                        </a:rPr>
                        <a:t>0.18%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>
                          <a:latin typeface="Microsoft YaHei"/>
                        </a:rPr>
                        <a:t>-0.06%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latin typeface="Microsoft YaHei"/>
              </a:rPr>
              <a:t>指标趋势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463040"/>
          <a:ext cx="1097280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latin typeface="Microsoft YaHei"/>
              </a:rPr>
              <a:t>里程碑与进度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3291840" cy="1097280"/>
          </a:xfrm>
          <a:prstGeom prst="roundRect">
            <a:avLst/>
          </a:prstGeom>
          <a:solidFill>
            <a:srgbClr val="46AA7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800" b="0">
                <a:solidFill>
                  <a:srgbClr val="FFFFFF"/>
                </a:solidFill>
                <a:latin typeface="Microsoft YaHei"/>
              </a:rPr>
              <a:t>需求评审</a:t>
            </a:r>
          </a:p>
          <a:p>
            <a:r>
              <a:rPr sz="1800" b="0">
                <a:solidFill>
                  <a:srgbClr val="FFFFFF"/>
                </a:solidFill>
                <a:latin typeface="Microsoft YaHei"/>
              </a:rPr>
              <a:t>完成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828800"/>
            <a:ext cx="3291840" cy="1097280"/>
          </a:xfrm>
          <a:prstGeom prst="roundRect">
            <a:avLst/>
          </a:prstGeom>
          <a:solidFill>
            <a:srgbClr val="F8B4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800" b="0">
                <a:solidFill>
                  <a:srgbClr val="FFFFFF"/>
                </a:solidFill>
                <a:latin typeface="Microsoft YaHei"/>
              </a:rPr>
              <a:t>开发联调</a:t>
            </a:r>
          </a:p>
          <a:p>
            <a:r>
              <a:rPr sz="1800" b="0">
                <a:solidFill>
                  <a:srgbClr val="FFFFFF"/>
                </a:solidFill>
                <a:latin typeface="Microsoft YaHei"/>
              </a:rPr>
              <a:t>进行中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828800"/>
            <a:ext cx="3291840" cy="1097280"/>
          </a:xfrm>
          <a:prstGeom prst="roundRect">
            <a:avLst/>
          </a:prstGeom>
          <a:solidFill>
            <a:srgbClr val="DCDCD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800" b="0">
                <a:solidFill>
                  <a:srgbClr val="3C3C3C"/>
                </a:solidFill>
                <a:latin typeface="Microsoft YaHei"/>
              </a:rPr>
              <a:t>灰度上线</a:t>
            </a:r>
          </a:p>
          <a:p>
            <a:r>
              <a:rPr sz="1800" b="0">
                <a:solidFill>
                  <a:srgbClr val="3C3C3C"/>
                </a:solidFill>
                <a:latin typeface="Microsoft YaHei"/>
              </a:rPr>
              <a:t>待开始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latin typeface="Microsoft YaHei"/>
              </a:rPr>
              <a:t>问题与风险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 b="0">
                <a:latin typeface="Microsoft YaHei"/>
              </a:rPr>
              <a:t>问题1：</a:t>
            </a:r>
          </a:p>
          <a:p>
            <a:pPr/>
            <a:r>
              <a:rPr sz="2200" b="0">
                <a:latin typeface="Microsoft YaHei"/>
              </a:rPr>
              <a:t>风险1：</a:t>
            </a:r>
          </a:p>
          <a:p>
            <a:pPr/>
            <a:r>
              <a:rPr sz="2200" b="0">
                <a:latin typeface="Microsoft YaHei"/>
              </a:rPr>
              <a:t>应对：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latin typeface="Microsoft YaHei"/>
              </a:rPr>
              <a:t>下周计划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 b="0">
                <a:latin typeface="Microsoft YaHei"/>
              </a:rPr>
              <a:t>计划1：</a:t>
            </a:r>
          </a:p>
          <a:p>
            <a:pPr/>
            <a:r>
              <a:rPr sz="2200" b="0">
                <a:latin typeface="Microsoft YaHei"/>
              </a:rPr>
              <a:t>计划2：</a:t>
            </a:r>
          </a:p>
          <a:p>
            <a:pPr/>
            <a:r>
              <a:rPr sz="2200" b="0">
                <a:latin typeface="Microsoft YaHei"/>
              </a:rPr>
              <a:t>计划3：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latin typeface="Microsoft YaHei"/>
              </a:rPr>
              <a:t>需要支持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 b="0">
                <a:latin typeface="Microsoft YaHei"/>
              </a:rPr>
              <a:t>资源/人力：</a:t>
            </a:r>
          </a:p>
          <a:p>
            <a:pPr/>
            <a:r>
              <a:rPr sz="2200" b="0">
                <a:latin typeface="Microsoft YaHei"/>
              </a:rPr>
              <a:t>决策支持：</a:t>
            </a:r>
          </a:p>
          <a:p>
            <a:pPr/>
            <a:r>
              <a:rPr sz="2200" b="0">
                <a:latin typeface="Microsoft YaHei"/>
              </a:rPr>
              <a:t>协作支持：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